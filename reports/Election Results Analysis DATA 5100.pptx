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C70103-6FC6-403E-A604-C6C56522B730}">
  <a:tblStyle styleId="{E4C70103-6FC6-403E-A604-C6C56522B7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6399b56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6399b56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6399b569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6399b569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6399b569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6399b56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6399b569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6399b569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6399b569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6399b569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63bc06c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63bc06c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6399b569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6399b569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6399b569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6399b569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63bc06c8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63bc06c8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6399b569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6399b569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6399b569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6399b569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EDA included computing Correlation Heatmaps and analyzing Box plots.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63bc06c8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63bc06c8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heatmap showed the strongest correlations with voting percentages. For Democrat voting percentage, the strongest positive correlation was with median income (0.42) and voter participation (0.32).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63bc06c8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63bc06c8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Republican voting percentage showed quite opposite, the strongest negative correlations were found in median income (–0.46) and voter participation rate (–0.31). This inverse relationship is expected when comparing the two major parties.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63bc06c8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63bc06c8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boxplots revealed many high and low outliers across almost all our predictor variables, exception for the bachelor's degree percentage (bach_per). T</a:t>
            </a:r>
            <a:r>
              <a:rPr lang="en">
                <a:solidFill>
                  <a:schemeClr val="dk1"/>
                </a:solidFill>
              </a:rPr>
              <a:t>h</a:t>
            </a:r>
            <a:r>
              <a:rPr lang="en">
                <a:solidFill>
                  <a:schemeClr val="dk1"/>
                </a:solidFill>
              </a:rPr>
              <a:t>ese correlations shown in the heatmaps and the characteristics revealed by the boxplots were the main drivers for us to conclude that our data was suitable for further modeling using both random forest classification and linear regression models.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6399b569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6399b569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accuracy score of 0.833 is considered fairly strong for this model. We found that the Democratic prediction was slightly more precise than the Republican prediction.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63bc06c8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63bc06c8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indicated that the National random forest model was quite effective for answering the goal of our project. In short, the three most important predictors identified by this model were voter participation, unemployment rate, and median income.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63bc06c8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63bc06c8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narrowed our focus, the model's effectiveness dropped dramatically. They showed </a:t>
            </a:r>
            <a:r>
              <a:rPr lang="en">
                <a:solidFill>
                  <a:schemeClr val="dk1"/>
                </a:solidFill>
              </a:rPr>
              <a:t>accuracy score of 0.5.</a:t>
            </a:r>
            <a:endParaRPr/>
          </a:p>
          <a:p>
            <a:pPr indent="-298450" lvl="0" marL="457200" rtl="0" algn="l">
              <a:spcBef>
                <a:spcPts val="0"/>
              </a:spcBef>
              <a:spcAft>
                <a:spcPts val="0"/>
              </a:spcAft>
              <a:buSzPts val="1100"/>
              <a:buChar char="-"/>
            </a:pPr>
            <a:r>
              <a:rPr lang="en"/>
              <a:t>The Swing state model (Wisconsin, Pennsylvania, Ohio, Michigan, and Florida) resulted in a low accuracy score of 0.5..</a:t>
            </a:r>
            <a:endParaRPr/>
          </a:p>
          <a:p>
            <a:pPr indent="-298450" lvl="0" marL="457200" rtl="0" algn="l">
              <a:spcBef>
                <a:spcPts val="0"/>
              </a:spcBef>
              <a:spcAft>
                <a:spcPts val="0"/>
              </a:spcAft>
              <a:buSzPts val="1100"/>
              <a:buChar char="-"/>
            </a:pPr>
            <a:r>
              <a:rPr lang="en"/>
              <a:t>The Single state model (Pennsylvania) also showed a low accuracy score of 0.5.</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63bc06c8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63bc06c8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accuracy scores of 0.5 for both the swing and single-state models demonstrate that the model was essentially guessing and was not able to predict which factors determined a Democrat or Republican win. We concluded that focusing on individual states significantly reduced the amount of data available, which means rendering the random forest model is ineffective for these state-level predictions.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6399b569b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6399b569b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single input, we picked the five main variables from our exploratory data analysis that seemed to have the strongest relationships.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fd140991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fd140991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fd140991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fd140991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fd140991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fd140991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analysis did not cover all factors that impact democrat and Republican voting percentage.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fd140991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fd140991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fd140991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fd140991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fd140991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fd140991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fd140991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fd140991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fd140991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fd140991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Mean 0 and a standard deviation, and we measure how a </a:t>
            </a:r>
            <a:r>
              <a:rPr lang="en" sz="1200">
                <a:solidFill>
                  <a:schemeClr val="dk1"/>
                </a:solidFill>
              </a:rPr>
              <a:t>coefficient</a:t>
            </a:r>
            <a:r>
              <a:rPr lang="en" sz="1200">
                <a:solidFill>
                  <a:schemeClr val="dk1"/>
                </a:solidFill>
              </a:rPr>
              <a:t> changes by 1 standard deviation.</a:t>
            </a:r>
            <a:endParaRPr sz="1200">
              <a:solidFill>
                <a:schemeClr val="dk1"/>
              </a:solidFill>
            </a:endParaRPr>
          </a:p>
          <a:p>
            <a:pPr indent="0" lvl="0" marL="0" rtl="0" algn="l">
              <a:lnSpc>
                <a:spcPct val="115000"/>
              </a:lnSpc>
              <a:spcBef>
                <a:spcPts val="800"/>
              </a:spcBef>
              <a:spcAft>
                <a:spcPts val="0"/>
              </a:spcAft>
              <a:buNone/>
            </a:pPr>
            <a:r>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1200">
                <a:solidFill>
                  <a:schemeClr val="dk1"/>
                </a:solidFill>
              </a:rPr>
              <a:t>For our scaled models, we found that for Democrat voting percentage, holding all other variables constant, we would expect to see: </a:t>
            </a:r>
            <a:endParaRPr sz="1200">
              <a:solidFill>
                <a:schemeClr val="dk1"/>
              </a:solidFill>
            </a:endParaRPr>
          </a:p>
          <a:p>
            <a:pPr indent="-304800" lvl="0" marL="685800" rtl="0" algn="l">
              <a:lnSpc>
                <a:spcPct val="115000"/>
              </a:lnSpc>
              <a:spcBef>
                <a:spcPts val="1200"/>
              </a:spcBef>
              <a:spcAft>
                <a:spcPts val="0"/>
              </a:spcAft>
              <a:buClr>
                <a:schemeClr val="dk1"/>
              </a:buClr>
              <a:buSzPts val="1200"/>
              <a:buChar char="●"/>
            </a:pPr>
            <a:r>
              <a:rPr lang="en" sz="1200">
                <a:solidFill>
                  <a:schemeClr val="dk1"/>
                </a:solidFill>
              </a:rPr>
              <a:t>For unemployment rate, a 4.01% increase in democratic voting percentage.  </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fd140991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fd140991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For our scaled models, we found that for Democrat voting percentage, holding all other variables constant, we would expect to see: </a:t>
            </a:r>
            <a:endParaRPr sz="1200">
              <a:solidFill>
                <a:schemeClr val="dk1"/>
              </a:solidFill>
            </a:endParaRPr>
          </a:p>
          <a:p>
            <a:pPr indent="-304800" lvl="0" marL="685800" rtl="0" algn="l">
              <a:lnSpc>
                <a:spcPct val="115000"/>
              </a:lnSpc>
              <a:spcBef>
                <a:spcPts val="1200"/>
              </a:spcBef>
              <a:spcAft>
                <a:spcPts val="0"/>
              </a:spcAft>
              <a:buClr>
                <a:schemeClr val="dk1"/>
              </a:buClr>
              <a:buSzPts val="1200"/>
              <a:buChar char="●"/>
            </a:pPr>
            <a:r>
              <a:rPr lang="en" sz="1200">
                <a:solidFill>
                  <a:schemeClr val="dk1"/>
                </a:solidFill>
              </a:rPr>
              <a:t>For unemployment rate, a 4.01% increase in democratic voting percentage.  </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fd140991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fd140991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And for Republican voting percentage, holding all other variables constant, we would expect to see: </a:t>
            </a:r>
            <a:endParaRPr sz="1200">
              <a:solidFill>
                <a:schemeClr val="dk1"/>
              </a:solidFill>
            </a:endParaRPr>
          </a:p>
          <a:p>
            <a:pPr indent="-304800" lvl="0" marL="685800" rtl="0" algn="l">
              <a:lnSpc>
                <a:spcPct val="115000"/>
              </a:lnSpc>
              <a:spcBef>
                <a:spcPts val="1200"/>
              </a:spcBef>
              <a:spcAft>
                <a:spcPts val="0"/>
              </a:spcAft>
              <a:buClr>
                <a:schemeClr val="dk1"/>
              </a:buClr>
              <a:buSzPts val="1200"/>
              <a:buChar char="●"/>
            </a:pPr>
            <a:r>
              <a:rPr lang="en" sz="1200">
                <a:solidFill>
                  <a:schemeClr val="dk1"/>
                </a:solidFill>
              </a:rPr>
              <a:t>For unemployment rate, a 1.93% decrease in Republican voting percentage. </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fd140991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fd140991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6399b569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6399b569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we believe that these models were effective in achieving our goal ofbuild a model that could predict election results based on key socioeconomic factors.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6399b569b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6399b569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census.gov/data/tables/time-series/demo/voting-and-registration/p20-587.html" TargetMode="External"/><Relationship Id="rId4" Type="http://schemas.openxmlformats.org/officeDocument/2006/relationships/hyperlink" Target="https://www.census.gov/data/tables/time-series/demo/voting-and-registration/p20-587.html" TargetMode="External"/><Relationship Id="rId11" Type="http://schemas.openxmlformats.org/officeDocument/2006/relationships/hyperlink" Target="https://www.statista.com/statistics/184260/educational-attainment-in-the-us/" TargetMode="External"/><Relationship Id="rId10" Type="http://schemas.openxmlformats.org/officeDocument/2006/relationships/hyperlink" Target="https://www.statista.com/statistics/184260/educational-attainment-in-the-us/" TargetMode="External"/><Relationship Id="rId9" Type="http://schemas.openxmlformats.org/officeDocument/2006/relationships/hyperlink" Target="http://fredaccount.stlouisfed.org/public/datalist/8534/" TargetMode="External"/><Relationship Id="rId5" Type="http://schemas.openxmlformats.org/officeDocument/2006/relationships/hyperlink" Target="https://www.census.gov/data/tables/time-series/demo/educational-attainment/cps-historical-time-series.html" TargetMode="External"/><Relationship Id="rId6" Type="http://schemas.openxmlformats.org/officeDocument/2006/relationships/hyperlink" Target="https://www.census.gov/data/tables/time-series/demo/educational-attainment/cps-historical-time-series.html" TargetMode="External"/><Relationship Id="rId7" Type="http://schemas.openxmlformats.org/officeDocument/2006/relationships/hyperlink" Target="https://www.statsamerica.org/downloads/default.aspx" TargetMode="External"/><Relationship Id="rId8" Type="http://schemas.openxmlformats.org/officeDocument/2006/relationships/hyperlink" Target="https://www.statsamerica.org/downloads/default.aspx"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US Presidential Election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Cameron Mangione, Jamil Ditter, Alex Song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Introduction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Theoretical Background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Methodology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Exploratory Data Analysis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Results + Analysis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Random Forest Classifier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Single + Multiple Linear Regression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Conclusion / Key Takeaways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Goal of the project</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ctr">
              <a:spcBef>
                <a:spcPts val="1200"/>
              </a:spcBef>
              <a:spcAft>
                <a:spcPts val="1200"/>
              </a:spcAft>
              <a:buNone/>
            </a:pPr>
            <a:r>
              <a:rPr lang="en" sz="3000">
                <a:solidFill>
                  <a:schemeClr val="dk1"/>
                </a:solidFill>
              </a:rPr>
              <a:t>Determine whether socioeconomic or demographic variables can be used to predict state-level presidential elections outcomes. </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Theoretical</a:t>
            </a:r>
            <a:r>
              <a:rPr lang="en"/>
              <a:t> Background</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Two different predictive models: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Random tree classification model</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Linear regression model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Utilize machine learning models to estimate outcomes based on explanatory variables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Explanatory Variables</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685800" rtl="0" algn="l">
              <a:spcBef>
                <a:spcPts val="1200"/>
              </a:spcBef>
              <a:spcAft>
                <a:spcPts val="0"/>
              </a:spcAft>
              <a:buClr>
                <a:schemeClr val="dk1"/>
              </a:buClr>
              <a:buSzPts val="1400"/>
              <a:buChar char="●"/>
            </a:pPr>
            <a:r>
              <a:rPr lang="en" sz="1400">
                <a:solidFill>
                  <a:schemeClr val="dk1"/>
                </a:solidFill>
              </a:rPr>
              <a:t>The percentage of residents who had received a bachelor’s degree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median household income of the population</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percentage of the population aged 18-24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percentage of the population aged 25-44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percentage of the population aged 45-64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percentage of the population aged 65+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percentage of voter participation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median age of the population </a:t>
            </a:r>
            <a:endParaRPr sz="1400">
              <a:solidFill>
                <a:schemeClr val="dk1"/>
              </a:solidFill>
            </a:endParaRPr>
          </a:p>
          <a:p>
            <a:pPr indent="-317500" lvl="0" marL="685800" rtl="0" algn="l">
              <a:spcBef>
                <a:spcPts val="0"/>
              </a:spcBef>
              <a:spcAft>
                <a:spcPts val="0"/>
              </a:spcAft>
              <a:buClr>
                <a:schemeClr val="dk1"/>
              </a:buClr>
              <a:buSzPts val="1400"/>
              <a:buChar char="●"/>
            </a:pPr>
            <a:r>
              <a:rPr lang="en" sz="1400">
                <a:solidFill>
                  <a:schemeClr val="dk1"/>
                </a:solidFill>
              </a:rPr>
              <a:t>The unemployment rate of the population </a:t>
            </a:r>
            <a:endParaRPr sz="1400">
              <a:solidFill>
                <a:schemeClr val="dk1"/>
              </a:solidFill>
            </a:endParaRPr>
          </a:p>
          <a:p>
            <a:pPr indent="0" lvl="0" marL="0" rtl="0" algn="l">
              <a:spcBef>
                <a:spcPts val="1200"/>
              </a:spcBef>
              <a:spcAft>
                <a:spcPts val="0"/>
              </a:spcAft>
              <a:buClr>
                <a:schemeClr val="dk1"/>
              </a:buClr>
              <a:buSzPts val="1100"/>
              <a:buFont typeface="Arial"/>
              <a:buNone/>
            </a:pPr>
            <a:r>
              <a:rPr lang="en" sz="1400">
                <a:solidFill>
                  <a:schemeClr val="dk1"/>
                </a:solidFill>
              </a:rPr>
              <a:t> </a:t>
            </a:r>
            <a:endParaRPr sz="1400">
              <a:solidFill>
                <a:schemeClr val="dk1"/>
              </a:solidFill>
            </a:endParaRPr>
          </a:p>
          <a:p>
            <a:pPr indent="0" lvl="0" marL="0" rtl="0" algn="l">
              <a:spcBef>
                <a:spcPts val="800"/>
              </a:spcBef>
              <a:spcAft>
                <a:spcPts val="120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Model</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1400">
              <a:solidFill>
                <a:schemeClr val="dk1"/>
              </a:solidFill>
            </a:endParaRPr>
          </a:p>
          <a:p>
            <a:pPr indent="0" lvl="0" marL="0" rtl="0" algn="ctr">
              <a:spcBef>
                <a:spcPts val="1200"/>
              </a:spcBef>
              <a:spcAft>
                <a:spcPts val="0"/>
              </a:spcAft>
              <a:buNone/>
            </a:pPr>
            <a:r>
              <a:t/>
            </a:r>
            <a:endParaRPr sz="1400">
              <a:solidFill>
                <a:schemeClr val="dk1"/>
              </a:solidFill>
            </a:endParaRPr>
          </a:p>
          <a:p>
            <a:pPr indent="0" lvl="0" marL="0" rtl="0" algn="ctr">
              <a:spcBef>
                <a:spcPts val="1200"/>
              </a:spcBef>
              <a:spcAft>
                <a:spcPts val="1200"/>
              </a:spcAft>
              <a:buNone/>
            </a:pPr>
            <a:r>
              <a:rPr lang="en" sz="2400">
                <a:solidFill>
                  <a:schemeClr val="dk1"/>
                </a:solidFill>
              </a:rPr>
              <a:t>Classification model that creates and fits a multitude of decision trees with a training algorithm selecting random samples from training data with </a:t>
            </a:r>
            <a:r>
              <a:rPr lang="en" sz="2400">
                <a:solidFill>
                  <a:schemeClr val="dk1"/>
                </a:solidFill>
              </a:rPr>
              <a:t>replacement.</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 Model</a:t>
            </a:r>
            <a:endParaRPr/>
          </a:p>
        </p:txBody>
      </p:sp>
      <p:sp>
        <p:nvSpPr>
          <p:cNvPr id="91" name="Google Shape;91;p19"/>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400">
                <a:solidFill>
                  <a:schemeClr val="dk1"/>
                </a:solidFill>
              </a:rPr>
              <a:t>Models relationships between explanatory variables and a dependent response variable through the use of linear predictor functions whose unknown model parameters are estimated from </a:t>
            </a:r>
            <a:r>
              <a:rPr lang="en" sz="2400">
                <a:solidFill>
                  <a:schemeClr val="dk1"/>
                </a:solidFill>
              </a:rPr>
              <a:t>the</a:t>
            </a:r>
            <a:r>
              <a:rPr lang="en" sz="2400">
                <a:solidFill>
                  <a:schemeClr val="dk1"/>
                </a:solidFill>
              </a:rPr>
              <a:t> data.</a:t>
            </a:r>
            <a:endParaRPr sz="2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Methodology</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Factors and datasets were compiled &amp; sorted by year and state.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Filtered for the range of 2000-2024 election years.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Created our two overall models for these datasets.</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Methodology</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Measured on democrat victory.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Training data sorted into an 80-20 split.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Metrics of accuracy score + classification report for additional info</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 Methodology</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Predicted either percentage of Democrat or Republican votes.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Single input model</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Unemployment Rate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Median Income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Voting participation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Ages 18-24</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Age 65+</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Multiple regression model</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Reduced Model</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Swing State Model</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Scaled Model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Linear Regression Breakdown</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Created reduced models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Democrat: Unemployment rate, median income, bachelor’s degree percentage, 18-24 age population, 65+ age population, and voter participation.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Republican: Same as Democrat without bachelor’s degree percentage.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Scaled reduced models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Swing State models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Predictors used: unemployment rate, percentage of the population aged 18-24, and percentage of the population aged 65+.</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Computational Results: Exploratory Data Analysis</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Correlation Heatmaps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Box plots</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Democrat Correlation Heatmap</a:t>
            </a:r>
            <a:endParaRPr/>
          </a:p>
        </p:txBody>
      </p:sp>
      <p:pic>
        <p:nvPicPr>
          <p:cNvPr id="127" name="Google Shape;127;p25"/>
          <p:cNvPicPr preferRelativeResize="0"/>
          <p:nvPr/>
        </p:nvPicPr>
        <p:blipFill>
          <a:blip r:embed="rId3">
            <a:alphaModFix/>
          </a:blip>
          <a:stretch>
            <a:fillRect/>
          </a:stretch>
        </p:blipFill>
        <p:spPr>
          <a:xfrm>
            <a:off x="2196013" y="948525"/>
            <a:ext cx="4751975" cy="4152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Republican Correlation Heatmap</a:t>
            </a:r>
            <a:endParaRPr/>
          </a:p>
        </p:txBody>
      </p:sp>
      <p:pic>
        <p:nvPicPr>
          <p:cNvPr id="133" name="Google Shape;133;p26"/>
          <p:cNvPicPr preferRelativeResize="0"/>
          <p:nvPr/>
        </p:nvPicPr>
        <p:blipFill>
          <a:blip r:embed="rId3">
            <a:alphaModFix/>
          </a:blip>
          <a:stretch>
            <a:fillRect/>
          </a:stretch>
        </p:blipFill>
        <p:spPr>
          <a:xfrm>
            <a:off x="2161475" y="951600"/>
            <a:ext cx="4714425" cy="4119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282400" y="430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Boxplots</a:t>
            </a:r>
            <a:endParaRPr/>
          </a:p>
        </p:txBody>
      </p:sp>
      <p:pic>
        <p:nvPicPr>
          <p:cNvPr id="139" name="Google Shape;139;p27"/>
          <p:cNvPicPr preferRelativeResize="0"/>
          <p:nvPr/>
        </p:nvPicPr>
        <p:blipFill>
          <a:blip r:embed="rId3">
            <a:alphaModFix/>
          </a:blip>
          <a:stretch>
            <a:fillRect/>
          </a:stretch>
        </p:blipFill>
        <p:spPr>
          <a:xfrm>
            <a:off x="204850" y="1530891"/>
            <a:ext cx="8520600" cy="18993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Random Forest Model: National Level</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Republican class ("False"), </a:t>
            </a:r>
            <a:endParaRPr>
              <a:solidFill>
                <a:schemeClr val="dk1"/>
              </a:solidFill>
            </a:endParaRPr>
          </a:p>
          <a:p>
            <a:pPr indent="-317500" lvl="1" marL="914400" rtl="0" algn="l">
              <a:spcBef>
                <a:spcPts val="0"/>
              </a:spcBef>
              <a:spcAft>
                <a:spcPts val="0"/>
              </a:spcAft>
              <a:buClr>
                <a:schemeClr val="dk1"/>
              </a:buClr>
              <a:buSzPts val="1400"/>
              <a:buChar char="○"/>
            </a:pPr>
            <a:r>
              <a:rPr lang="en" sz="1800">
                <a:solidFill>
                  <a:schemeClr val="dk1"/>
                </a:solidFill>
              </a:rPr>
              <a:t>Precision score of 0.800</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Democratic class ("True"): </a:t>
            </a:r>
            <a:endParaRPr>
              <a:solidFill>
                <a:schemeClr val="dk1"/>
              </a:solidFill>
            </a:endParaRPr>
          </a:p>
          <a:p>
            <a:pPr indent="-317500" lvl="1" marL="914400" rtl="0" algn="l">
              <a:spcBef>
                <a:spcPts val="0"/>
              </a:spcBef>
              <a:spcAft>
                <a:spcPts val="0"/>
              </a:spcAft>
              <a:buClr>
                <a:schemeClr val="dk1"/>
              </a:buClr>
              <a:buSzPts val="1400"/>
              <a:buChar char="○"/>
            </a:pPr>
            <a:r>
              <a:rPr lang="en" sz="1800">
                <a:solidFill>
                  <a:schemeClr val="dk1"/>
                </a:solidFill>
              </a:rPr>
              <a:t>Precision of 0.875. </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model achieved an overall accuracy of 0.833. </a:t>
            </a:r>
            <a:endParaRPr>
              <a:solidFill>
                <a:schemeClr val="dk1"/>
              </a:solidFill>
            </a:endParaRPr>
          </a:p>
          <a:p>
            <a:pPr indent="0" lvl="0" marL="0" rtl="0" algn="l">
              <a:spcBef>
                <a:spcPts val="800"/>
              </a:spcBef>
              <a:spcAft>
                <a:spcPts val="0"/>
              </a:spcAft>
              <a:buClr>
                <a:schemeClr val="dk1"/>
              </a:buClr>
              <a:buSzPts val="1100"/>
              <a:buFont typeface="Arial"/>
              <a:buNone/>
            </a:pPr>
            <a:r>
              <a:t/>
            </a:r>
            <a:endParaRPr sz="12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Model: National Level Analysis</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Democrat was more </a:t>
            </a:r>
            <a:r>
              <a:rPr lang="en">
                <a:solidFill>
                  <a:schemeClr val="dk1"/>
                </a:solidFill>
              </a:rPr>
              <a:t>precise than Republican in the model</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Accuracy score</a:t>
            </a:r>
            <a:r>
              <a:rPr lang="en">
                <a:solidFill>
                  <a:schemeClr val="dk1"/>
                </a:solidFill>
              </a:rPr>
              <a:t> of 0.833 is quite good for this model.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National random forest model effective for answering the goal of our project.</a:t>
            </a:r>
            <a:endParaRPr>
              <a:solidFill>
                <a:schemeClr val="dk1"/>
              </a:solidFill>
            </a:endParaRPr>
          </a:p>
          <a:p>
            <a:pPr indent="0" lvl="0" marL="0" rtl="0" algn="l">
              <a:spcBef>
                <a:spcPts val="800"/>
              </a:spcBef>
              <a:spcAft>
                <a:spcPts val="0"/>
              </a:spcAft>
              <a:buNone/>
            </a:pPr>
            <a:r>
              <a:t/>
            </a:r>
            <a:endParaRPr sz="12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Model: Swing and State Level</a:t>
            </a:r>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Swing state model (Wisconsin, Pennsylvania, Ohio, Michigan, and Florida):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Accuracy score of 0.5</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Single state model (Pennsylvania):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Accuracy score of 0.5</a:t>
            </a:r>
            <a:endParaRPr>
              <a:solidFill>
                <a:schemeClr val="dk1"/>
              </a:solidFill>
            </a:endParaRPr>
          </a:p>
          <a:p>
            <a:pPr indent="0" lvl="0" marL="0" rtl="0" algn="l">
              <a:spcBef>
                <a:spcPts val="800"/>
              </a:spcBef>
              <a:spcAft>
                <a:spcPts val="0"/>
              </a:spcAft>
              <a:buNone/>
            </a:pPr>
            <a:r>
              <a:t/>
            </a:r>
            <a:endParaRPr sz="12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 Model: Swing + State Level Analysis</a:t>
            </a:r>
            <a:endParaRPr/>
          </a:p>
        </p:txBody>
      </p:sp>
      <p:sp>
        <p:nvSpPr>
          <p:cNvPr id="163" name="Google Shape;163;p31"/>
          <p:cNvSpPr txBox="1"/>
          <p:nvPr>
            <p:ph idx="1" type="body"/>
          </p:nvPr>
        </p:nvSpPr>
        <p:spPr>
          <a:xfrm>
            <a:off x="311700" y="11573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Both models accuracy scores of 0.5 show that the model was not able to definitively predict which factors could predict a Democrat or Republican win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Swing + state level</a:t>
            </a:r>
            <a:r>
              <a:rPr lang="en">
                <a:solidFill>
                  <a:schemeClr val="dk1"/>
                </a:solidFill>
              </a:rPr>
              <a:t> random forest model was not effective for answering the goal of our project.</a:t>
            </a:r>
            <a:endParaRPr>
              <a:solidFill>
                <a:schemeClr val="dk1"/>
              </a:solidFill>
            </a:endParaRPr>
          </a:p>
          <a:p>
            <a:pPr indent="0" lvl="0" marL="0" rtl="0" algn="l">
              <a:spcBef>
                <a:spcPts val="800"/>
              </a:spcBef>
              <a:spcAft>
                <a:spcPts val="0"/>
              </a:spcAft>
              <a:buNone/>
            </a:pPr>
            <a:r>
              <a:t/>
            </a:r>
            <a:endParaRPr sz="12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Single Input Regression Results</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S</a:t>
            </a:r>
            <a:r>
              <a:rPr lang="en">
                <a:solidFill>
                  <a:schemeClr val="dk1"/>
                </a:solidFill>
              </a:rPr>
              <a:t>ingle input regression models investigated:</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Median income,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Unemployment rate,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Voter participation, and the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18-24 voting population percentage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65+ voting population percentages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Mean absolute errors for these variables were each within around 7-9%</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Root mean squared error being in a range of about 10-12%.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Of these single variables, the Republican median income predictor showed the lowest RMSE and MAE at 10.3% and 7.5%, respectively. </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Single Input Regression Analysis</a:t>
            </a:r>
            <a:endParaRPr/>
          </a:p>
        </p:txBody>
      </p:sp>
      <p:sp>
        <p:nvSpPr>
          <p:cNvPr id="175" name="Google Shape;17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All predictors were statistically significant except </a:t>
            </a:r>
            <a:r>
              <a:rPr lang="en">
                <a:solidFill>
                  <a:schemeClr val="dk1"/>
                </a:solidFill>
              </a:rPr>
              <a:t>Republican </a:t>
            </a:r>
            <a:r>
              <a:rPr lang="en">
                <a:solidFill>
                  <a:schemeClr val="dk1"/>
                </a:solidFill>
              </a:rPr>
              <a:t>65+ voting population percentage.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Of these single variables, the Republican median income predictor showed the lowest RMSE and MAE at +-10.3% and +-7.5%, respectively.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 both cases, these errors are both high given and represent wide error ranges.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These ranges make sense given that we are assessing single inputs for linear regression.</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National Multiple Linear Regression Results</a:t>
            </a:r>
            <a:endParaRPr/>
          </a:p>
        </p:txBody>
      </p:sp>
      <p:graphicFrame>
        <p:nvGraphicFramePr>
          <p:cNvPr id="181" name="Google Shape;181;p34"/>
          <p:cNvGraphicFramePr/>
          <p:nvPr/>
        </p:nvGraphicFramePr>
        <p:xfrm>
          <a:off x="1360800" y="1173950"/>
          <a:ext cx="3000000" cy="3000000"/>
        </p:xfrm>
        <a:graphic>
          <a:graphicData uri="http://schemas.openxmlformats.org/drawingml/2006/table">
            <a:tbl>
              <a:tblPr>
                <a:noFill/>
                <a:tableStyleId>{E4C70103-6FC6-403E-A604-C6C56522B730}</a:tableStyleId>
              </a:tblPr>
              <a:tblGrid>
                <a:gridCol w="1209675"/>
                <a:gridCol w="1209675"/>
                <a:gridCol w="1209675"/>
                <a:gridCol w="1209675"/>
                <a:gridCol w="1209675"/>
              </a:tblGrid>
              <a:tr h="704850">
                <a:tc>
                  <a:txBody>
                    <a:bodyPr/>
                    <a:lstStyle/>
                    <a:p>
                      <a:pPr indent="0" lvl="0" marL="76200" marR="76200" rtl="0" algn="l">
                        <a:lnSpc>
                          <a:spcPct val="115000"/>
                        </a:lnSpc>
                        <a:spcBef>
                          <a:spcPts val="0"/>
                        </a:spcBef>
                        <a:spcAft>
                          <a:spcPts val="800"/>
                        </a:spcAft>
                        <a:buNone/>
                      </a:pPr>
                      <a:r>
                        <a:rPr lang="en" sz="1200"/>
                        <a:t>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Target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R2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Adj. R-squared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25400" rtl="0" algn="l">
                        <a:lnSpc>
                          <a:spcPct val="115000"/>
                        </a:lnSpc>
                        <a:spcBef>
                          <a:spcPts val="0"/>
                        </a:spcBef>
                        <a:spcAft>
                          <a:spcPts val="800"/>
                        </a:spcAft>
                        <a:buNone/>
                      </a:pPr>
                      <a:r>
                        <a:rPr lang="en" sz="1200"/>
                        <a:t>MAE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Full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Democratic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0.445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0.426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25400" rtl="0" algn="l">
                        <a:lnSpc>
                          <a:spcPct val="115000"/>
                        </a:lnSpc>
                        <a:spcBef>
                          <a:spcPts val="0"/>
                        </a:spcBef>
                        <a:spcAft>
                          <a:spcPts val="800"/>
                        </a:spcAft>
                        <a:buNone/>
                      </a:pPr>
                      <a:r>
                        <a:rPr lang="en" sz="1200"/>
                        <a:t>0.0588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Full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Republican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0.403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0.383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0.0618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Reduced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Democratic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0.390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0.380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0.0649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Reduced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Republican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0.324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0.314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0.0685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National Multiple Linear Regression Full Model Analysis</a:t>
            </a:r>
            <a:endParaRPr/>
          </a:p>
        </p:txBody>
      </p:sp>
      <p:sp>
        <p:nvSpPr>
          <p:cNvPr id="187" name="Google Shape;18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full model showed an R-Squared value of 0.445(moderate strength) for Democrat.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full model showed an R-Squared value of 0.403(moderate strength) for Republican.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Moderate strength due to this analysis not being a completely comprehensive list of predictors for voting percentage.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Mean Absolute errors  for each were around +-5-7%, which showed improvement over single inputs.</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Linear Regression Reduced Model Analysis</a:t>
            </a:r>
            <a:endParaRPr/>
          </a:p>
        </p:txBody>
      </p:sp>
      <p:sp>
        <p:nvSpPr>
          <p:cNvPr id="193" name="Google Shape;19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full model showed an R-Squared value of 0.390(moderate strength) for Democrat.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full model showed an R-Squared value of 0.324(weak strength) for Republican.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Reduction in R-Squared values is due to removing some statistically significant variables.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mean absolute error also increased for both Democrat and Republican as a result of the R-Squared increase.</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Linear Regression Swing States Model Results</a:t>
            </a:r>
            <a:endParaRPr/>
          </a:p>
        </p:txBody>
      </p:sp>
      <p:graphicFrame>
        <p:nvGraphicFramePr>
          <p:cNvPr id="199" name="Google Shape;199;p37"/>
          <p:cNvGraphicFramePr/>
          <p:nvPr/>
        </p:nvGraphicFramePr>
        <p:xfrm>
          <a:off x="1571625" y="1236225"/>
          <a:ext cx="3000000" cy="3000000"/>
        </p:xfrm>
        <a:graphic>
          <a:graphicData uri="http://schemas.openxmlformats.org/drawingml/2006/table">
            <a:tbl>
              <a:tblPr>
                <a:noFill/>
                <a:tableStyleId>{E4C70103-6FC6-403E-A604-C6C56522B730}</a:tableStyleId>
              </a:tblPr>
              <a:tblGrid>
                <a:gridCol w="1200150"/>
                <a:gridCol w="1200150"/>
                <a:gridCol w="1200150"/>
                <a:gridCol w="1200150"/>
                <a:gridCol w="1200150"/>
              </a:tblGrid>
              <a:tr h="704850">
                <a:tc>
                  <a:txBody>
                    <a:bodyPr/>
                    <a:lstStyle/>
                    <a:p>
                      <a:pPr indent="0" lvl="0" marL="76200" marR="76200" rtl="0" algn="l">
                        <a:lnSpc>
                          <a:spcPct val="115000"/>
                        </a:lnSpc>
                        <a:spcBef>
                          <a:spcPts val="0"/>
                        </a:spcBef>
                        <a:spcAft>
                          <a:spcPts val="800"/>
                        </a:spcAft>
                        <a:buNone/>
                      </a:pPr>
                      <a:r>
                        <a:rPr lang="en" sz="1200"/>
                        <a:t>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Target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R2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Adj. R-squared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MAE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Full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Democratic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0.656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0.391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0.015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Full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Republican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0.691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0.454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0.013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Reduced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Democratic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0.556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0.501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0.028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Reduced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Republican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0.238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0.143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0.034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204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Multiple Linear Regression Swing States Full Model Analysis</a:t>
            </a:r>
            <a:endParaRPr sz="2400"/>
          </a:p>
        </p:txBody>
      </p:sp>
      <p:sp>
        <p:nvSpPr>
          <p:cNvPr id="205" name="Google Shape;20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Swing State model showed an R-Squared value of 0.656(strong) for Democrat.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full model showed an R-Squared value of 0.691(strong) for Republican.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R-Squared strength increase was likely due to reducing the dataset down to five states rather than looking at the entire dataset.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Mean Absolute errors for each were around +-1.3-1.5%, which while a huge improvement over the National model, is primarily due to the reducing our dataset.</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00"/>
              <a:t>Multiple Linear Regression Swing States Reduced Model Analysis</a:t>
            </a:r>
            <a:endParaRPr sz="2400"/>
          </a:p>
        </p:txBody>
      </p:sp>
      <p:sp>
        <p:nvSpPr>
          <p:cNvPr id="211" name="Google Shape;2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Swing State reduced model showed an R-Squared value of 0.5564 (strong) for Democrat, but reduced compared to Swing full model.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Swing State reduced model showed an R-Squared value of 0.2384(weak) for Republican, dropping by 45.29% compared to the full swing state model.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R-Squared strength decrease was likely due to reducing the categories down to 3 factors (unemployment, and 18-24 + 65+) for Republican and Democrat.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Mean Absolute errors between +-2.75%-3.35% showed larger errors compared to the full State analysis.</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Linear Regression Scaled Model Results</a:t>
            </a:r>
            <a:endParaRPr/>
          </a:p>
        </p:txBody>
      </p:sp>
      <p:graphicFrame>
        <p:nvGraphicFramePr>
          <p:cNvPr id="217" name="Google Shape;217;p40"/>
          <p:cNvGraphicFramePr/>
          <p:nvPr/>
        </p:nvGraphicFramePr>
        <p:xfrm>
          <a:off x="1571625" y="1511663"/>
          <a:ext cx="3000000" cy="3000000"/>
        </p:xfrm>
        <a:graphic>
          <a:graphicData uri="http://schemas.openxmlformats.org/drawingml/2006/table">
            <a:tbl>
              <a:tblPr>
                <a:noFill/>
                <a:tableStyleId>{E4C70103-6FC6-403E-A604-C6C56522B730}</a:tableStyleId>
              </a:tblPr>
              <a:tblGrid>
                <a:gridCol w="1200150"/>
                <a:gridCol w="1200150"/>
                <a:gridCol w="1200150"/>
                <a:gridCol w="1200150"/>
                <a:gridCol w="1200150"/>
              </a:tblGrid>
              <a:tr h="704850">
                <a:tc>
                  <a:txBody>
                    <a:bodyPr/>
                    <a:lstStyle/>
                    <a:p>
                      <a:pPr indent="0" lvl="0" marL="76200" marR="76200" rtl="0" algn="l">
                        <a:lnSpc>
                          <a:spcPct val="115000"/>
                        </a:lnSpc>
                        <a:spcBef>
                          <a:spcPts val="0"/>
                        </a:spcBef>
                        <a:spcAft>
                          <a:spcPts val="800"/>
                        </a:spcAft>
                        <a:buNone/>
                      </a:pPr>
                      <a:r>
                        <a:rPr lang="en" sz="1200"/>
                        <a:t>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Target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R2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Adj. R-squared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MAE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Scaled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Democratic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0.656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0.391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0.015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704850">
                <a:tc>
                  <a:txBody>
                    <a:bodyPr/>
                    <a:lstStyle/>
                    <a:p>
                      <a:pPr indent="0" lvl="0" marL="76200" marR="76200" rtl="0" algn="l">
                        <a:lnSpc>
                          <a:spcPct val="115000"/>
                        </a:lnSpc>
                        <a:spcBef>
                          <a:spcPts val="0"/>
                        </a:spcBef>
                        <a:spcAft>
                          <a:spcPts val="800"/>
                        </a:spcAft>
                        <a:buNone/>
                      </a:pPr>
                      <a:r>
                        <a:rPr lang="en" sz="1200"/>
                        <a:t>Scaled Model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Republican Votes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0.691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0.454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76200" marR="76200" rtl="0" algn="l">
                        <a:lnSpc>
                          <a:spcPct val="115000"/>
                        </a:lnSpc>
                        <a:spcBef>
                          <a:spcPts val="0"/>
                        </a:spcBef>
                        <a:spcAft>
                          <a:spcPts val="800"/>
                        </a:spcAft>
                        <a:buNone/>
                      </a:pPr>
                      <a:r>
                        <a:rPr lang="en" sz="1200"/>
                        <a:t>0.013 </a:t>
                      </a:r>
                      <a:endParaRPr sz="1200"/>
                    </a:p>
                  </a:txBody>
                  <a:tcPr marT="91425" marB="91425" marR="91425" marL="914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Democrat Scaled Model Coefficients</a:t>
            </a:r>
            <a:endParaRPr/>
          </a:p>
        </p:txBody>
      </p:sp>
      <p:graphicFrame>
        <p:nvGraphicFramePr>
          <p:cNvPr id="223" name="Google Shape;223;p41"/>
          <p:cNvGraphicFramePr/>
          <p:nvPr/>
        </p:nvGraphicFramePr>
        <p:xfrm>
          <a:off x="225438" y="1198350"/>
          <a:ext cx="3000000" cy="3000000"/>
        </p:xfrm>
        <a:graphic>
          <a:graphicData uri="http://schemas.openxmlformats.org/drawingml/2006/table">
            <a:tbl>
              <a:tblPr>
                <a:noFill/>
                <a:tableStyleId>{E4C70103-6FC6-403E-A604-C6C56522B730}</a:tableStyleId>
              </a:tblPr>
              <a:tblGrid>
                <a:gridCol w="4722750"/>
                <a:gridCol w="3970375"/>
              </a:tblGrid>
              <a:tr h="378625">
                <a:tc>
                  <a:txBody>
                    <a:bodyPr/>
                    <a:lstStyle/>
                    <a:p>
                      <a:pPr indent="0" lvl="0" marL="63500" marR="63500" rtl="0" algn="l">
                        <a:lnSpc>
                          <a:spcPct val="115000"/>
                        </a:lnSpc>
                        <a:spcBef>
                          <a:spcPts val="0"/>
                        </a:spcBef>
                        <a:spcAft>
                          <a:spcPts val="0"/>
                        </a:spcAft>
                        <a:buNone/>
                      </a:pPr>
                      <a:r>
                        <a:rPr lang="en" sz="1200"/>
                        <a:t>Democrat Predictors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Dem Scaled Model Coefficients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8750">
                <a:tc>
                  <a:txBody>
                    <a:bodyPr/>
                    <a:lstStyle/>
                    <a:p>
                      <a:pPr indent="0" lvl="0" marL="63500" marR="63500" rtl="0" algn="l">
                        <a:lnSpc>
                          <a:spcPct val="115000"/>
                        </a:lnSpc>
                        <a:spcBef>
                          <a:spcPts val="0"/>
                        </a:spcBef>
                        <a:spcAft>
                          <a:spcPts val="0"/>
                        </a:spcAft>
                        <a:buNone/>
                      </a:pPr>
                      <a:r>
                        <a:rPr lang="en" sz="1200"/>
                        <a:t>Unemployment Rate Normalized</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0.0401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8750">
                <a:tc>
                  <a:txBody>
                    <a:bodyPr/>
                    <a:lstStyle/>
                    <a:p>
                      <a:pPr indent="0" lvl="0" marL="63500" marR="63500" rtl="0" algn="l">
                        <a:lnSpc>
                          <a:spcPct val="115000"/>
                        </a:lnSpc>
                        <a:spcBef>
                          <a:spcPts val="0"/>
                        </a:spcBef>
                        <a:spcAft>
                          <a:spcPts val="0"/>
                        </a:spcAft>
                        <a:buNone/>
                      </a:pPr>
                      <a:r>
                        <a:rPr lang="en" sz="1200"/>
                        <a:t>Median Income Normalized</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0.0507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8750">
                <a:tc>
                  <a:txBody>
                    <a:bodyPr/>
                    <a:lstStyle/>
                    <a:p>
                      <a:pPr indent="0" lvl="0" marL="63500" marR="63500" rtl="0" algn="l">
                        <a:lnSpc>
                          <a:spcPct val="115000"/>
                        </a:lnSpc>
                        <a:spcBef>
                          <a:spcPts val="0"/>
                        </a:spcBef>
                        <a:spcAft>
                          <a:spcPts val="0"/>
                        </a:spcAft>
                        <a:buNone/>
                      </a:pPr>
                      <a:r>
                        <a:rPr lang="en" sz="1200"/>
                        <a:t>Bachelor or higher population percentage Normalized</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-0.0200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8750">
                <a:tc>
                  <a:txBody>
                    <a:bodyPr/>
                    <a:lstStyle/>
                    <a:p>
                      <a:pPr indent="0" lvl="0" marL="63500" marR="63500" rtl="0" algn="l">
                        <a:lnSpc>
                          <a:spcPct val="115000"/>
                        </a:lnSpc>
                        <a:spcBef>
                          <a:spcPts val="0"/>
                        </a:spcBef>
                        <a:spcAft>
                          <a:spcPts val="0"/>
                        </a:spcAft>
                        <a:buNone/>
                      </a:pPr>
                      <a:r>
                        <a:rPr lang="en" sz="1200"/>
                        <a:t>65+ Population percentage Normalized</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-0.0307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8750">
                <a:tc>
                  <a:txBody>
                    <a:bodyPr/>
                    <a:lstStyle/>
                    <a:p>
                      <a:pPr indent="0" lvl="0" marL="63500" marR="63500" rtl="0" algn="l">
                        <a:lnSpc>
                          <a:spcPct val="115000"/>
                        </a:lnSpc>
                        <a:spcBef>
                          <a:spcPts val="0"/>
                        </a:spcBef>
                        <a:spcAft>
                          <a:spcPts val="0"/>
                        </a:spcAft>
                        <a:buNone/>
                      </a:pPr>
                      <a:r>
                        <a:rPr lang="en" sz="1200"/>
                        <a:t>Voter Participation Normalized</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0.0191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68750">
                <a:tc>
                  <a:txBody>
                    <a:bodyPr/>
                    <a:lstStyle/>
                    <a:p>
                      <a:pPr indent="0" lvl="0" marL="63500" marR="63500" rtl="0" algn="l">
                        <a:lnSpc>
                          <a:spcPct val="115000"/>
                        </a:lnSpc>
                        <a:spcBef>
                          <a:spcPts val="0"/>
                        </a:spcBef>
                        <a:spcAft>
                          <a:spcPts val="0"/>
                        </a:spcAft>
                        <a:buNone/>
                      </a:pPr>
                      <a:r>
                        <a:rPr lang="en" sz="1200"/>
                        <a:t>18-24 Population Percentage Normalized</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-0.0283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2"/>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Republican Scaled Model Coefficients</a:t>
            </a:r>
            <a:endParaRPr/>
          </a:p>
        </p:txBody>
      </p:sp>
      <p:graphicFrame>
        <p:nvGraphicFramePr>
          <p:cNvPr id="229" name="Google Shape;229;p42"/>
          <p:cNvGraphicFramePr/>
          <p:nvPr/>
        </p:nvGraphicFramePr>
        <p:xfrm>
          <a:off x="1571625" y="1289775"/>
          <a:ext cx="3000000" cy="3000000"/>
        </p:xfrm>
        <a:graphic>
          <a:graphicData uri="http://schemas.openxmlformats.org/drawingml/2006/table">
            <a:tbl>
              <a:tblPr>
                <a:noFill/>
                <a:tableStyleId>{E4C70103-6FC6-403E-A604-C6C56522B730}</a:tableStyleId>
              </a:tblPr>
              <a:tblGrid>
                <a:gridCol w="3000375"/>
                <a:gridCol w="3000375"/>
              </a:tblGrid>
              <a:tr h="209550">
                <a:tc>
                  <a:txBody>
                    <a:bodyPr/>
                    <a:lstStyle/>
                    <a:p>
                      <a:pPr indent="0" lvl="0" marL="63500" marR="63500" rtl="0" algn="l">
                        <a:lnSpc>
                          <a:spcPct val="115000"/>
                        </a:lnSpc>
                        <a:spcBef>
                          <a:spcPts val="0"/>
                        </a:spcBef>
                        <a:spcAft>
                          <a:spcPts val="0"/>
                        </a:spcAft>
                        <a:buNone/>
                      </a:pPr>
                      <a:r>
                        <a:rPr lang="en" sz="1200"/>
                        <a:t>Republican Predictors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Rep Scaled Model Coefficients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9550">
                <a:tc>
                  <a:txBody>
                    <a:bodyPr/>
                    <a:lstStyle/>
                    <a:p>
                      <a:pPr indent="0" lvl="0" marL="63500" marR="63500" rtl="0" algn="l">
                        <a:lnSpc>
                          <a:spcPct val="115000"/>
                        </a:lnSpc>
                        <a:spcBef>
                          <a:spcPts val="0"/>
                        </a:spcBef>
                        <a:spcAft>
                          <a:spcPts val="0"/>
                        </a:spcAft>
                        <a:buNone/>
                      </a:pPr>
                      <a:r>
                        <a:rPr lang="en" sz="1200"/>
                        <a:t>Unemployment Rate Normalized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-0.0193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9550">
                <a:tc>
                  <a:txBody>
                    <a:bodyPr/>
                    <a:lstStyle/>
                    <a:p>
                      <a:pPr indent="0" lvl="0" marL="63500" marR="63500" rtl="0" algn="l">
                        <a:lnSpc>
                          <a:spcPct val="115000"/>
                        </a:lnSpc>
                        <a:spcBef>
                          <a:spcPts val="0"/>
                        </a:spcBef>
                        <a:spcAft>
                          <a:spcPts val="0"/>
                        </a:spcAft>
                        <a:buNone/>
                      </a:pPr>
                      <a:r>
                        <a:rPr lang="en" sz="1200"/>
                        <a:t>Median Income Normalized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-0.0466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9550">
                <a:tc>
                  <a:txBody>
                    <a:bodyPr/>
                    <a:lstStyle/>
                    <a:p>
                      <a:pPr indent="0" lvl="0" marL="63500" marR="63500" rtl="0" algn="l">
                        <a:lnSpc>
                          <a:spcPct val="115000"/>
                        </a:lnSpc>
                        <a:spcBef>
                          <a:spcPts val="0"/>
                        </a:spcBef>
                        <a:spcAft>
                          <a:spcPts val="0"/>
                        </a:spcAft>
                        <a:buNone/>
                      </a:pPr>
                      <a:r>
                        <a:rPr lang="en" sz="1200"/>
                        <a:t>65+ Population percentage Normalized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0.0290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9550">
                <a:tc>
                  <a:txBody>
                    <a:bodyPr/>
                    <a:lstStyle/>
                    <a:p>
                      <a:pPr indent="0" lvl="0" marL="63500" marR="63500" rtl="0" algn="l">
                        <a:lnSpc>
                          <a:spcPct val="115000"/>
                        </a:lnSpc>
                        <a:spcBef>
                          <a:spcPts val="0"/>
                        </a:spcBef>
                        <a:spcAft>
                          <a:spcPts val="0"/>
                        </a:spcAft>
                        <a:buNone/>
                      </a:pPr>
                      <a:r>
                        <a:rPr lang="en" sz="1200"/>
                        <a:t>Voter Participation Normalized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-0.0177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9550">
                <a:tc>
                  <a:txBody>
                    <a:bodyPr/>
                    <a:lstStyle/>
                    <a:p>
                      <a:pPr indent="0" lvl="0" marL="63500" marR="63500" rtl="0" algn="l">
                        <a:lnSpc>
                          <a:spcPct val="115000"/>
                        </a:lnSpc>
                        <a:spcBef>
                          <a:spcPts val="0"/>
                        </a:spcBef>
                        <a:spcAft>
                          <a:spcPts val="0"/>
                        </a:spcAft>
                        <a:buNone/>
                      </a:pPr>
                      <a:r>
                        <a:rPr lang="en" sz="1200"/>
                        <a:t>18-24 Population Percentage Normalized </a:t>
                      </a:r>
                      <a:endParaRPr sz="1200"/>
                    </a:p>
                  </a:txBody>
                  <a:tcPr marT="91425" marB="91425" marR="91425" marL="91425" anchor="ctr">
                    <a:lnL cap="flat" cmpd="sng" w="9525">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63500" rtl="0" algn="l">
                        <a:lnSpc>
                          <a:spcPct val="115000"/>
                        </a:lnSpc>
                        <a:spcBef>
                          <a:spcPts val="0"/>
                        </a:spcBef>
                        <a:spcAft>
                          <a:spcPts val="0"/>
                        </a:spcAft>
                        <a:buNone/>
                      </a:pPr>
                      <a:r>
                        <a:rPr lang="en" sz="1200"/>
                        <a:t>0.0290 </a:t>
                      </a:r>
                      <a:endParaRPr sz="1200"/>
                    </a:p>
                  </a:txBody>
                  <a:tcPr marT="91425" marB="91425" marR="91425" marL="91425" anchor="ctr">
                    <a:lnL cap="flat" cmpd="sng" w="63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3"/>
          <p:cNvSpPr txBox="1"/>
          <p:nvPr>
            <p:ph type="title"/>
          </p:nvPr>
        </p:nvSpPr>
        <p:spPr>
          <a:xfrm>
            <a:off x="311700" y="42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Linear Regression Scaled Model Analysis</a:t>
            </a:r>
            <a:endParaRPr/>
          </a:p>
        </p:txBody>
      </p:sp>
      <p:sp>
        <p:nvSpPr>
          <p:cNvPr id="235" name="Google Shape;23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ctr">
              <a:spcBef>
                <a:spcPts val="1200"/>
              </a:spcBef>
              <a:spcAft>
                <a:spcPts val="0"/>
              </a:spcAft>
              <a:buNone/>
            </a:pPr>
            <a:r>
              <a:rPr lang="en" sz="2000">
                <a:solidFill>
                  <a:schemeClr val="dk1"/>
                </a:solidFill>
              </a:rPr>
              <a:t>Overall, in these models, median income had the greatest impact on both Democrats and Republicans, </a:t>
            </a:r>
            <a:endParaRPr sz="2000">
              <a:solidFill>
                <a:schemeClr val="dk1"/>
              </a:solidFill>
            </a:endParaRPr>
          </a:p>
          <a:p>
            <a:pPr indent="0" lvl="0" marL="0" rtl="0" algn="ctr">
              <a:spcBef>
                <a:spcPts val="1200"/>
              </a:spcBef>
              <a:spcAft>
                <a:spcPts val="0"/>
              </a:spcAft>
              <a:buNone/>
            </a:pPr>
            <a:r>
              <a:rPr lang="en" sz="2000">
                <a:solidFill>
                  <a:schemeClr val="dk1"/>
                </a:solidFill>
              </a:rPr>
              <a:t>With Democrats seeing a 5.07% percentage point increase</a:t>
            </a:r>
            <a:endParaRPr sz="2000">
              <a:solidFill>
                <a:schemeClr val="dk1"/>
              </a:solidFill>
            </a:endParaRPr>
          </a:p>
          <a:p>
            <a:pPr indent="0" lvl="0" marL="0" rtl="0" algn="ctr">
              <a:spcBef>
                <a:spcPts val="1200"/>
              </a:spcBef>
              <a:spcAft>
                <a:spcPts val="1200"/>
              </a:spcAft>
              <a:buNone/>
            </a:pPr>
            <a:r>
              <a:rPr lang="en" sz="2000">
                <a:solidFill>
                  <a:schemeClr val="dk1"/>
                </a:solidFill>
              </a:rPr>
              <a:t>and Republicans seeing a 4.66% percentage point decrease in percentage of votes. </a:t>
            </a:r>
            <a:endParaRPr sz="20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Takeaways</a:t>
            </a:r>
            <a:endParaRPr/>
          </a:p>
        </p:txBody>
      </p:sp>
      <p:sp>
        <p:nvSpPr>
          <p:cNvPr id="241" name="Google Shape;241;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Clr>
                <a:schemeClr val="dk1"/>
              </a:buClr>
              <a:buSzPct val="100000"/>
              <a:buChar char="●"/>
            </a:pPr>
            <a:r>
              <a:rPr lang="en">
                <a:solidFill>
                  <a:schemeClr val="dk1"/>
                </a:solidFill>
              </a:rPr>
              <a:t>Median income was the strongest factor for both Democrat and Republican voting percentages in our data.</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National random forest model was able to predict election results with an 83% accuracy score.</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Unemployment rate, median income, bachelor degree percentage, </a:t>
            </a:r>
            <a:r>
              <a:rPr lang="en">
                <a:solidFill>
                  <a:schemeClr val="dk1"/>
                </a:solidFill>
              </a:rPr>
              <a:t>voter participation, and</a:t>
            </a:r>
            <a:r>
              <a:rPr lang="en">
                <a:solidFill>
                  <a:schemeClr val="dk1"/>
                </a:solidFill>
              </a:rPr>
              <a:t> all population age ranges percentages (18-24, 25-44, 45-64, 65+) had </a:t>
            </a:r>
            <a:r>
              <a:rPr lang="en">
                <a:solidFill>
                  <a:schemeClr val="dk1"/>
                </a:solidFill>
              </a:rPr>
              <a:t>statistically</a:t>
            </a:r>
            <a:r>
              <a:rPr lang="en">
                <a:solidFill>
                  <a:schemeClr val="dk1"/>
                </a:solidFill>
              </a:rPr>
              <a:t> significant results in our dataset.</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Our multiple linear regression model produced an error rate between approximately +-5-7% from the true voting percentage total for each group on average.</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Our swing state models showed that unemployment rate was statistically significant, with it being the only statistically significant predictor for the Democrat model, while the Republican model also included the population percentages.</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47" name="Google Shape;247;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55600" lvl="0" marL="355600" rtl="0" algn="l">
              <a:spcBef>
                <a:spcPts val="0"/>
              </a:spcBef>
              <a:spcAft>
                <a:spcPts val="0"/>
              </a:spcAft>
              <a:buClr>
                <a:schemeClr val="dk1"/>
              </a:buClr>
              <a:buSzPts val="1100"/>
              <a:buFont typeface="Arial"/>
              <a:buNone/>
            </a:pPr>
            <a:r>
              <a:rPr lang="en" sz="1200">
                <a:solidFill>
                  <a:schemeClr val="dk1"/>
                </a:solidFill>
              </a:rPr>
              <a:t>Bureau, US Census. “Voting and Registration in the Election of November 2024.” </a:t>
            </a:r>
            <a:r>
              <a:rPr i="1" lang="en" sz="1200">
                <a:solidFill>
                  <a:schemeClr val="dk1"/>
                </a:solidFill>
              </a:rPr>
              <a:t>Census.Gov</a:t>
            </a:r>
            <a:r>
              <a:rPr lang="en" sz="1200">
                <a:solidFill>
                  <a:schemeClr val="dk1"/>
                </a:solidFill>
              </a:rPr>
              <a:t>, US Census, 24 Apr. 2025,</a:t>
            </a:r>
            <a:r>
              <a:rPr lang="en" sz="1200">
                <a:solidFill>
                  <a:schemeClr val="dk1"/>
                </a:solidFill>
                <a:uFill>
                  <a:noFill/>
                </a:uFill>
                <a:hlinkClick r:id="rId3">
                  <a:extLst>
                    <a:ext uri="{A12FA001-AC4F-418D-AE19-62706E023703}">
                      <ahyp:hlinkClr val="tx"/>
                    </a:ext>
                  </a:extLst>
                </a:hlinkClick>
              </a:rPr>
              <a:t> </a:t>
            </a:r>
            <a:r>
              <a:rPr lang="en" sz="1200" u="sng">
                <a:solidFill>
                  <a:srgbClr val="467886"/>
                </a:solidFill>
                <a:hlinkClick r:id="rId4">
                  <a:extLst>
                    <a:ext uri="{A12FA001-AC4F-418D-AE19-62706E023703}">
                      <ahyp:hlinkClr val="tx"/>
                    </a:ext>
                  </a:extLst>
                </a:hlinkClick>
              </a:rPr>
              <a:t>www.census.gov/data/tables/time-series/demo/voting-and-registration/p20-587.html</a:t>
            </a:r>
            <a:r>
              <a:rPr lang="en" sz="1200">
                <a:solidFill>
                  <a:schemeClr val="dk1"/>
                </a:solidFill>
              </a:rPr>
              <a:t>. </a:t>
            </a:r>
            <a:endParaRPr sz="1200">
              <a:solidFill>
                <a:schemeClr val="dk1"/>
              </a:solidFill>
            </a:endParaRPr>
          </a:p>
          <a:p>
            <a:pPr indent="-355600" lvl="0" marL="355600" rtl="0" algn="l">
              <a:spcBef>
                <a:spcPts val="1200"/>
              </a:spcBef>
              <a:spcAft>
                <a:spcPts val="0"/>
              </a:spcAft>
              <a:buClr>
                <a:schemeClr val="dk1"/>
              </a:buClr>
              <a:buSzPts val="1100"/>
              <a:buFont typeface="Arial"/>
              <a:buNone/>
            </a:pPr>
            <a:r>
              <a:rPr lang="en" sz="1200">
                <a:solidFill>
                  <a:schemeClr val="dk1"/>
                </a:solidFill>
              </a:rPr>
              <a:t>Bureau, US Census. “CPS Historical Time Series Tables.” </a:t>
            </a:r>
            <a:r>
              <a:rPr i="1" lang="en" sz="1200">
                <a:solidFill>
                  <a:schemeClr val="dk1"/>
                </a:solidFill>
              </a:rPr>
              <a:t>Census.Gov</a:t>
            </a:r>
            <a:r>
              <a:rPr lang="en" sz="1200">
                <a:solidFill>
                  <a:schemeClr val="dk1"/>
                </a:solidFill>
              </a:rPr>
              <a:t>, US Census, 25 Aug. 2025,</a:t>
            </a:r>
            <a:r>
              <a:rPr lang="en" sz="1200">
                <a:solidFill>
                  <a:schemeClr val="dk1"/>
                </a:solidFill>
                <a:uFill>
                  <a:noFill/>
                </a:uFill>
                <a:hlinkClick r:id="rId5">
                  <a:extLst>
                    <a:ext uri="{A12FA001-AC4F-418D-AE19-62706E023703}">
                      <ahyp:hlinkClr val="tx"/>
                    </a:ext>
                  </a:extLst>
                </a:hlinkClick>
              </a:rPr>
              <a:t> </a:t>
            </a:r>
            <a:r>
              <a:rPr lang="en" sz="1200" u="sng">
                <a:solidFill>
                  <a:srgbClr val="467886"/>
                </a:solidFill>
                <a:hlinkClick r:id="rId6">
                  <a:extLst>
                    <a:ext uri="{A12FA001-AC4F-418D-AE19-62706E023703}">
                      <ahyp:hlinkClr val="tx"/>
                    </a:ext>
                  </a:extLst>
                </a:hlinkClick>
              </a:rPr>
              <a:t>www.census.gov/data/tables/time-series/demo/educational-attainment/cps-historical-time-series.html</a:t>
            </a:r>
            <a:r>
              <a:rPr lang="en" sz="1200">
                <a:solidFill>
                  <a:schemeClr val="dk1"/>
                </a:solidFill>
              </a:rPr>
              <a:t>. </a:t>
            </a:r>
            <a:endParaRPr sz="1200">
              <a:solidFill>
                <a:schemeClr val="dk1"/>
              </a:solidFill>
            </a:endParaRPr>
          </a:p>
          <a:p>
            <a:pPr indent="-355600" lvl="0" marL="355600" rtl="0" algn="l">
              <a:spcBef>
                <a:spcPts val="1200"/>
              </a:spcBef>
              <a:spcAft>
                <a:spcPts val="0"/>
              </a:spcAft>
              <a:buClr>
                <a:schemeClr val="dk1"/>
              </a:buClr>
              <a:buSzPts val="1100"/>
              <a:buFont typeface="Arial"/>
              <a:buNone/>
            </a:pPr>
            <a:r>
              <a:rPr lang="en" sz="1200">
                <a:solidFill>
                  <a:schemeClr val="dk1"/>
                </a:solidFill>
              </a:rPr>
              <a:t>Dataverse, Harvard. “1976-2020-President.TAB - U.S. Presidential Elections.” </a:t>
            </a:r>
            <a:r>
              <a:rPr i="1" lang="en" sz="1200">
                <a:solidFill>
                  <a:schemeClr val="dk1"/>
                </a:solidFill>
              </a:rPr>
              <a:t>Harvard Dataverse</a:t>
            </a:r>
            <a:r>
              <a:rPr lang="en" sz="1200">
                <a:solidFill>
                  <a:schemeClr val="dk1"/>
                </a:solidFill>
              </a:rPr>
              <a:t>, 2025, dataverse.harvard.edu/file.xhtml?fileId=10244938&amp;version=8.0. </a:t>
            </a:r>
            <a:endParaRPr sz="1200">
              <a:solidFill>
                <a:schemeClr val="dk1"/>
              </a:solidFill>
            </a:endParaRPr>
          </a:p>
          <a:p>
            <a:pPr indent="-355600" lvl="0" marL="355600" rtl="0" algn="l">
              <a:spcBef>
                <a:spcPts val="1200"/>
              </a:spcBef>
              <a:spcAft>
                <a:spcPts val="0"/>
              </a:spcAft>
              <a:buClr>
                <a:schemeClr val="dk1"/>
              </a:buClr>
              <a:buSzPts val="1100"/>
              <a:buFont typeface="Arial"/>
              <a:buNone/>
            </a:pPr>
            <a:r>
              <a:rPr lang="en" sz="1200">
                <a:solidFill>
                  <a:schemeClr val="dk1"/>
                </a:solidFill>
              </a:rPr>
              <a:t>Download center, StatsAmerica. </a:t>
            </a:r>
            <a:r>
              <a:rPr i="1" lang="en" sz="1200">
                <a:solidFill>
                  <a:schemeClr val="dk1"/>
                </a:solidFill>
              </a:rPr>
              <a:t>StatsAmerica Download Center</a:t>
            </a:r>
            <a:r>
              <a:rPr lang="en" sz="1200">
                <a:solidFill>
                  <a:schemeClr val="dk1"/>
                </a:solidFill>
              </a:rPr>
              <a:t>, 2025,</a:t>
            </a:r>
            <a:r>
              <a:rPr lang="en" sz="1200">
                <a:solidFill>
                  <a:schemeClr val="dk1"/>
                </a:solidFill>
                <a:uFill>
                  <a:noFill/>
                </a:uFill>
                <a:hlinkClick r:id="rId7">
                  <a:extLst>
                    <a:ext uri="{A12FA001-AC4F-418D-AE19-62706E023703}">
                      <ahyp:hlinkClr val="tx"/>
                    </a:ext>
                  </a:extLst>
                </a:hlinkClick>
              </a:rPr>
              <a:t> </a:t>
            </a:r>
            <a:r>
              <a:rPr lang="en" sz="1200" u="sng">
                <a:solidFill>
                  <a:srgbClr val="467886"/>
                </a:solidFill>
                <a:hlinkClick r:id="rId8">
                  <a:extLst>
                    <a:ext uri="{A12FA001-AC4F-418D-AE19-62706E023703}">
                      <ahyp:hlinkClr val="tx"/>
                    </a:ext>
                  </a:extLst>
                </a:hlinkClick>
              </a:rPr>
              <a:t>www.statsamerica.org/downloads/default.aspx</a:t>
            </a:r>
            <a:r>
              <a:rPr lang="en" sz="1200">
                <a:solidFill>
                  <a:schemeClr val="dk1"/>
                </a:solidFill>
              </a:rPr>
              <a:t>. </a:t>
            </a:r>
            <a:endParaRPr sz="1200">
              <a:solidFill>
                <a:schemeClr val="dk1"/>
              </a:solidFill>
            </a:endParaRPr>
          </a:p>
          <a:p>
            <a:pPr indent="-355600" lvl="0" marL="355600" rtl="0" algn="l">
              <a:spcBef>
                <a:spcPts val="1200"/>
              </a:spcBef>
              <a:spcAft>
                <a:spcPts val="0"/>
              </a:spcAft>
              <a:buClr>
                <a:schemeClr val="dk1"/>
              </a:buClr>
              <a:buSzPts val="1100"/>
              <a:buFont typeface="Arial"/>
              <a:buNone/>
            </a:pPr>
            <a:r>
              <a:rPr lang="en" sz="1200">
                <a:solidFill>
                  <a:schemeClr val="dk1"/>
                </a:solidFill>
              </a:rPr>
              <a:t>Economic Data, Federal Reserve. “Federal Reserve Economic Data.” </a:t>
            </a:r>
            <a:r>
              <a:rPr i="1" lang="en" sz="1200">
                <a:solidFill>
                  <a:schemeClr val="dk1"/>
                </a:solidFill>
              </a:rPr>
              <a:t>MEDIAN HH INCOME BY STATE 1984 -2023 (Updated Periodically) - FRED\ALFRED - St. Louis Fed</a:t>
            </a:r>
            <a:r>
              <a:rPr lang="en" sz="1200">
                <a:solidFill>
                  <a:schemeClr val="dk1"/>
                </a:solidFill>
              </a:rPr>
              <a:t>, FRED, 2025, </a:t>
            </a:r>
            <a:r>
              <a:rPr lang="en" sz="1200" u="sng">
                <a:solidFill>
                  <a:schemeClr val="hlink"/>
                </a:solidFill>
                <a:hlinkClick r:id="rId9"/>
              </a:rPr>
              <a:t>fredaccount.stlouisfed.org/public/datalist/8534/</a:t>
            </a:r>
            <a:r>
              <a:rPr lang="en" sz="1200">
                <a:solidFill>
                  <a:schemeClr val="dk1"/>
                </a:solidFill>
              </a:rPr>
              <a:t>.</a:t>
            </a:r>
            <a:endParaRPr sz="1200">
              <a:solidFill>
                <a:schemeClr val="dk1"/>
              </a:solidFill>
            </a:endParaRPr>
          </a:p>
          <a:p>
            <a:pPr indent="-355600" lvl="0" marL="355600" rtl="0" algn="l">
              <a:spcBef>
                <a:spcPts val="1200"/>
              </a:spcBef>
              <a:spcAft>
                <a:spcPts val="0"/>
              </a:spcAft>
              <a:buClr>
                <a:schemeClr val="dk1"/>
              </a:buClr>
              <a:buSzPts val="1100"/>
              <a:buFont typeface="Arial"/>
              <a:buNone/>
            </a:pPr>
            <a:r>
              <a:rPr lang="en" sz="1200">
                <a:solidFill>
                  <a:schemeClr val="dk1"/>
                </a:solidFill>
              </a:rPr>
              <a:t>MIT Election Data and Science Lab, 2018, "County Presidential Election Returns 2000-2024", https://doi.org/10.7910/DVN/VOQCHQ, Harvard Dataverse, V16, UNF:6:NKTy7eW9uEWX4imXpPxf5g== [fileUNF] </a:t>
            </a:r>
            <a:endParaRPr sz="1200">
              <a:solidFill>
                <a:schemeClr val="dk1"/>
              </a:solidFill>
            </a:endParaRPr>
          </a:p>
          <a:p>
            <a:pPr indent="-355600" lvl="0" marL="355600" rtl="0" algn="l">
              <a:spcBef>
                <a:spcPts val="1200"/>
              </a:spcBef>
              <a:spcAft>
                <a:spcPts val="1200"/>
              </a:spcAft>
              <a:buNone/>
            </a:pPr>
            <a:r>
              <a:rPr lang="en" sz="1200">
                <a:solidFill>
                  <a:schemeClr val="dk1"/>
                </a:solidFill>
              </a:rPr>
              <a:t>Statista, Statista. “Educational Attainment Distribution in the United States from 1960 to 2022 .” </a:t>
            </a:r>
            <a:r>
              <a:rPr i="1" lang="en" sz="1200">
                <a:solidFill>
                  <a:schemeClr val="dk1"/>
                </a:solidFill>
              </a:rPr>
              <a:t>Statista</a:t>
            </a:r>
            <a:r>
              <a:rPr lang="en" sz="1200">
                <a:solidFill>
                  <a:schemeClr val="dk1"/>
                </a:solidFill>
              </a:rPr>
              <a:t>, 2025,</a:t>
            </a:r>
            <a:r>
              <a:rPr lang="en" sz="1200">
                <a:solidFill>
                  <a:schemeClr val="dk1"/>
                </a:solidFill>
                <a:uFill>
                  <a:noFill/>
                </a:uFill>
                <a:hlinkClick r:id="rId10">
                  <a:extLst>
                    <a:ext uri="{A12FA001-AC4F-418D-AE19-62706E023703}">
                      <ahyp:hlinkClr val="tx"/>
                    </a:ext>
                  </a:extLst>
                </a:hlinkClick>
              </a:rPr>
              <a:t> </a:t>
            </a:r>
            <a:r>
              <a:rPr lang="en" sz="1200" u="sng">
                <a:solidFill>
                  <a:srgbClr val="467886"/>
                </a:solidFill>
                <a:hlinkClick r:id="rId11">
                  <a:extLst>
                    <a:ext uri="{A12FA001-AC4F-418D-AE19-62706E023703}">
                      <ahyp:hlinkClr val="tx"/>
                    </a:ext>
                  </a:extLst>
                </a:hlinkClick>
              </a:rPr>
              <a:t>www.statista.com/statistics/184260/educational-attainment-in-the-us/</a:t>
            </a:r>
            <a:r>
              <a:rPr lang="en" sz="1200">
                <a:solidFill>
                  <a:schemeClr val="dk1"/>
                </a:solidFill>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